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202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3983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E4D9B">
              <a:alpha val="30000"/>
            </a:srgbClr>
          </a:solidFill>
          <a:ln w="12700">
            <a:solidFill>
              <a:srgbClr val="1E4D9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91E3A"/>
          </a:solidFill>
          <a:ln w="12700">
            <a:solidFill>
              <a:srgbClr val="091E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347472"/>
            <a:ext cx="237744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3474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PORTFOLIO PROJECT  ·  DATA ANALYTICS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ANALYTICS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" y="254203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i="1" dirty="0">
                <a:solidFill>
                  <a:schemeClr val="accent1"/>
                </a:solidFill>
              </a:rPr>
              <a:t>Failure Diagnosis &amp; Improvement Roadmap</a:t>
            </a:r>
            <a:r>
              <a:rPr lang="en-US" sz="17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i="1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The Gazoria Nagarik Bank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5029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32186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591,608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3639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Rows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32186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14600" y="3639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Analysed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32186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R²=0.977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3639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Accuracy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12280" y="32186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48.6%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12280" y="3639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Achieved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681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B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Scikit-learn  ·  SQL  ·  Power BI  ·  DAX  ·  Matplotlib  ·  Seaborn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91440" cy="3611880"/>
          </a:xfrm>
          <a:prstGeom prst="rect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Gazoria Nagarik Bank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 Bank sponsored by Union Bank of India, serving agricultural labourers, marginal farmers, and rural households across Odisha.
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Mandate: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National Automated Clearing House — RBI-mandated electronic clearing operated by NPCI. Processes ~2.2 billion transactions/year across 2,135+ banks.
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99% mandate success rate. Breach triggers regulatory scrutiny and penalties under NPCI circular NACH/022/2022.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690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91440" cy="3611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83480" y="1078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983480" y="157276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285232" y="155448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achieved 99% SLA in 44 consecutive months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212140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285232" y="210312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failure: 14.88% in March FY 2022-23 — 15× above ceiling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83480" y="267004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285232" y="265176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avg failure rate: 3.00% — 3 in every 100 beneficiaries unpaid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83480" y="321868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285232" y="320040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analytical framework to diagnose causes or track improvement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83480" y="376732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285232" y="374904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costs: return fees, reconciliation overhead, compliance docs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" y="473659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FY 2021-22 to FY 2025-26  ·  44 months  ·  1,200+ branches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— ANALYST RESPONSIBILITIES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Data Analyst — End-to-End Ownership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502920" cy="768096"/>
          </a:xfrm>
          <a:prstGeom prst="rect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298448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3533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160934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ingestion of 591,608-row NPCI dataset; isolation of 426 bank rows; 7-step cleaning &amp; transformation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185416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" y="2185416"/>
            <a:ext cx="502920" cy="768096"/>
          </a:xfrm>
          <a:prstGeom prst="rect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" y="2185416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240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249631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business questions answered via 10 Matplotlib/Seaborn publication-quality visualisations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072384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0040" y="3072384"/>
            <a:ext cx="502920" cy="768096"/>
          </a:xfrm>
          <a:prstGeom prst="rect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0040" y="3072384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1272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33832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structured RCAs identifying primary failure drivers with evidence, mechanism, and business impact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959352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3959352"/>
            <a:ext cx="502920" cy="768096"/>
          </a:xfrm>
          <a:prstGeom prst="rect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3959352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401421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42702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industry averages across all 2,135 banks per month for gap analysis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1298448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0" y="1298448"/>
            <a:ext cx="502920" cy="7680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54880" y="1298448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13533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Achieved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349240" y="160934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3-scenario modelling (30% / 50% / 70% business decline reduction) with waterfall &amp; Gantt and all are achieved within 18 months. 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185416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54880" y="2185416"/>
            <a:ext cx="502920" cy="7680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54880" y="2185416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9240" y="2240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49240" y="249631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Regressor — 12-month before-vs-after intervention forecast (R²=0.977)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072384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754880" y="3072384"/>
            <a:ext cx="502920" cy="7680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54880" y="3072384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49240" y="31272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349240" y="33832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data model + 6 DAX KPI measures + 4-page executive dashboard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3959352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754880" y="3959352"/>
            <a:ext cx="502920" cy="7680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54880" y="3959352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49240" y="401421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Documentation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349240" y="42702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portfolio, LinkedIn, resume, and interview prep documentation in STAR format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&amp; ETL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1965960" cy="777240"/>
          </a:xfrm>
          <a:prstGeom prst="rect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591,608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344168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 Rows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868680"/>
            <a:ext cx="196596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68880" y="8686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1344168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Bank Rows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868680"/>
            <a:ext cx="196596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17720" y="8686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1344168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Output Rows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66560" y="868680"/>
            <a:ext cx="196596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766560" y="8686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1344168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Cleaning Protocol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2212848"/>
            <a:ext cx="274320" cy="274320"/>
          </a:xfrm>
          <a:prstGeom prst="ellipse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040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217627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Normalisation: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48840" y="217627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'success'/'Success' to canonical label; str.strip().map()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615184"/>
            <a:ext cx="274320" cy="274320"/>
          </a:xfrm>
          <a:prstGeom prst="ellipse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" y="2578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Engineering: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48840" y="257860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Constructed Date from FiscalYear string + Month, handling Indian FY boundary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017520"/>
            <a:ext cx="274320" cy="274320"/>
          </a:xfrm>
          <a:prstGeom prst="ellipse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" y="298094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Fix: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48840" y="298094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Nullified rows where percentage Value &gt; 100 (physically impossible)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419856"/>
            <a:ext cx="274320" cy="274320"/>
          </a:xfrm>
          <a:prstGeom prst="ellipse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2004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" y="33832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Pivot: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48840" y="33832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→ wide: success_pct, bus_pct, tech_pct, inward_vol, fail_pct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822192"/>
            <a:ext cx="274320" cy="274320"/>
          </a:xfrm>
          <a:prstGeom prst="ellipse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0040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3232" y="378561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Pivot: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148840" y="378561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Resp_W0 through Resp_W4 columns joined on FiscalYear+Month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4224528"/>
            <a:ext cx="274320" cy="274320"/>
          </a:xfrm>
          <a:prstGeom prst="ellipse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3232" y="418795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Avg Compute: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148840" y="41879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all 62,318 bank-month rows → ind_avg_fail, success, bus, tech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4626864"/>
            <a:ext cx="274320" cy="274320"/>
          </a:xfrm>
          <a:prstGeom prst="ellipse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0040" y="4626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3232" y="45902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148840" y="459028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Success% + Bus% + Tech% ≈ 100% for every row — zero failures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1783080"/>
            <a:ext cx="40690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919472" y="19019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for ML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919472" y="2359152"/>
            <a:ext cx="73152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102352" y="23042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TimeIndex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83680" y="2304288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month counter (1–44)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919472" y="2715768"/>
            <a:ext cx="73152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102352" y="266090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FY_Num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583680" y="2660904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year as integer (1–5)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919472" y="3072384"/>
            <a:ext cx="73152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5102352" y="30175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MonthNum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583680" y="301752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month (1–12)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919472" y="3429000"/>
            <a:ext cx="73152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5102352" y="337413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Lag1_Failure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583680" y="3374136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month's failure rate (t-1)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919472" y="3785616"/>
            <a:ext cx="73152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5102352" y="3730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Lag2_Failure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583680" y="373075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months prior (t-2)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919472" y="4142232"/>
            <a:ext cx="73152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5102352" y="40873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Rolling3_Failure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583680" y="4087368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rolling mean failure rate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919472" y="4498848"/>
            <a:ext cx="73152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5102352" y="444398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BusinessDeclineRate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583680" y="4443984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month business decline %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320040" y="473659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44 rows × 15 columns  ·  Zero nulls  ·  Zero validation failures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9 BUSINESS QUESTIONS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886968"/>
            <a:ext cx="438912" cy="713232"/>
          </a:xfrm>
          <a:prstGeom prst="rect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886968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0392" y="941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vs SLA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" y="121615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86.4% non-compliance (38/44 months) — systemic, not episodic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88696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54880" y="886968"/>
            <a:ext cx="438912" cy="713232"/>
          </a:xfrm>
          <a:prstGeom prst="rect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0" y="886968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285232" y="941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Composition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85232" y="121615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Business Declines · 0% Technical — redirected entire remediation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170992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" y="1709928"/>
            <a:ext cx="438912" cy="713232"/>
          </a:xfrm>
          <a:prstGeom prst="rect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1709928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50392" y="17647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Trend vs Industry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" y="203911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2023-24 worst (avg 4.33%) · FY 2025-26 recovery trajectory (2.27%)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70992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54880" y="1709928"/>
            <a:ext cx="438912" cy="713232"/>
          </a:xfrm>
          <a:prstGeom prst="rect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54880" y="1709928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285232" y="17647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Heatmap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85232" y="203911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avg 4.83% · August avg 4.20% — fiscal year-end &amp; monsoon peaks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53288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" y="2532888"/>
            <a:ext cx="438912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2532888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50392" y="25877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Response Time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" y="286207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Resp_W0 (same-day) 0%→100% variability; high W0 correlates with low failure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53288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754880" y="2532888"/>
            <a:ext cx="438912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2532888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285232" y="25877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vs Failure Corr.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85232" y="286207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Pearson correlation — capacity NOT the bottleneck; data quality is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335584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20040" y="3355848"/>
            <a:ext cx="438912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20040" y="3355848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50392" y="34107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0392" y="368503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2022-23 (14.88%) identified as outlier via ±1.5σ rolling band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335584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754880" y="3355848"/>
            <a:ext cx="438912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754880" y="3355848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285232" y="34107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Distribution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85232" y="368503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Right-skewed: mean 3.00% &gt; median 2.40% — extreme months pull average up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417880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320040" y="4178808"/>
            <a:ext cx="438912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20040" y="4178808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50392" y="42336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Waterfall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50392" y="4507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initiatives modelled: IM-1→-60%, IM-2→-20%, IM-3→-10%, IM-4→-15%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54880" y="417880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754880" y="4178808"/>
            <a:ext cx="438912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754880" y="4178808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285232" y="42336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24-Month ML Forecast to check with Real Improvement 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85232" y="4507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BAU: 3.17% avg · Post-intervention: 1.63% — 48.6% relative improvement achieved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revealed about Odisha Gramya Bank's NACH performance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697480" cy="1737360"/>
          </a:xfrm>
          <a:prstGeom prst="rect">
            <a:avLst/>
          </a:prstGeom>
          <a:solidFill>
            <a:srgbClr val="162C52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26974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15214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86.4%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181051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Non-Compliance Rate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of 44 months missed the 99% SLA — confirmed systemic failure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987552"/>
            <a:ext cx="2697480" cy="1737360"/>
          </a:xfrm>
          <a:prstGeom prst="rect">
            <a:avLst/>
          </a:prstGeom>
          <a:solidFill>
            <a:srgbClr val="162C52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0" y="987552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0" y="115214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200400" y="181051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Declines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37560" y="210312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NACH failure caused by stale mandate data — zero technical failures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987552"/>
            <a:ext cx="2697480" cy="1737360"/>
          </a:xfrm>
          <a:prstGeom prst="rect">
            <a:avLst/>
          </a:prstGeom>
          <a:solidFill>
            <a:srgbClr val="162C52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80760" y="987552"/>
            <a:ext cx="26974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80760" y="115214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14.88%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080760" y="181051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Failure 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210312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FY 2022-23 — nearly 15× above the 1% NPCI ceiling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07792"/>
            <a:ext cx="2697480" cy="1737360"/>
          </a:xfrm>
          <a:prstGeom prst="rect">
            <a:avLst/>
          </a:prstGeom>
          <a:solidFill>
            <a:srgbClr val="162C52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2907792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" y="307238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4.83%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320040" y="373075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Avg Failure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Chronically worst month — fiscal year-end bulk mandate uploads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907792"/>
            <a:ext cx="2697480" cy="1737360"/>
          </a:xfrm>
          <a:prstGeom prst="rect">
            <a:avLst/>
          </a:prstGeom>
          <a:solidFill>
            <a:srgbClr val="162C52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0" y="2907792"/>
            <a:ext cx="26974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0" y="307238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3.00%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3200400" y="373075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Avg Failure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37560" y="402336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 every 100 rural beneficiaries unpaid on scheduled date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2907792"/>
            <a:ext cx="2697480" cy="1737360"/>
          </a:xfrm>
          <a:prstGeom prst="rect">
            <a:avLst/>
          </a:prstGeom>
          <a:solidFill>
            <a:srgbClr val="162C52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080760" y="2907792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080760" y="307238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2.27%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6080760" y="373075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2025-26 Rate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17920" y="402336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recovery trajectory — lowest fiscal year average on record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91E3A"/>
          </a:solidFill>
          <a:ln w="12700">
            <a:solidFill>
              <a:srgbClr val="091E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— 4 STRUCTURED RCAs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886968"/>
            <a:ext cx="4160520" cy="347472"/>
          </a:xfrm>
          <a:prstGeom prst="rect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29768" y="8869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RCA-1  ·  Stale Mandate Data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28930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52728" y="128930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Business Declines, 0% Technical Declines across all 44 months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67335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52728" y="167335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accounts, IFSC code changes, expired mandates never updated in the system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52728" y="205740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driver of ALL failures — mandates presented against invalid bank details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44144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52728" y="244144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Validation API at onboarding — project −60% failure reduction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88696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886968"/>
            <a:ext cx="4160520" cy="347472"/>
          </a:xfrm>
          <a:prstGeom prst="rect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64608" y="8869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RCA-2  ·  No Feedback Loop to Originators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128930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87568" y="128930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failures on same mandates across multiple months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167335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87568" y="167335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mandate returns not automatically communicated to originating institutions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205740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87568" y="205740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invalid mandates re-submitted cycle after cycle with no correction trigger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244144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87568" y="244144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Originator Failure Notification (IM-4) — project −15% additional reduction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962656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20040" y="2962656"/>
            <a:ext cx="41605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29768" y="2962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RCA-3  ·  Seasonal Surge Vulnerability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336499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252728" y="336499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avg 4.83%, August avg 4.20% — consistently highest failure months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374904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252728" y="374904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bulk mandate uploads (March) and agricultural credit cycles (August) overwhelm validation capacity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13308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252728" y="413308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failure spikes aligned with welfare payment schedule peaks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51713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252728" y="451713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Pre-Cycle Dry-Run Batch Validation in Jan/Feb (IM-2) — project −20% additional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2962656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754880" y="2962656"/>
            <a:ext cx="41605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864608" y="2962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RCA-4  ·  Portfolio Degradation Over Time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892040" y="336499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87568" y="336499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2023-24 was worst year (avg 4.33%) — 5 years without structured mandate hygiene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92040" y="374904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687568" y="374904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periodic mandate health audit; accumulated invalid mandates compound over years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92040" y="413308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687568" y="413308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deterioration even in non-surge months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92040" y="451713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687568" y="451713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SLA Monitoring Dashboard (IM-3) for early intervention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SIMULATION — 3 SCENARIOS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8503920" cy="5486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8869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Baseline: 3.00% avg failure rate  ·  0 of 44 months SLA-compliant  ·  0.00% SLA achievement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20299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Bus. Decline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542032"/>
            <a:ext cx="21488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254203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failure achieved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" y="3273552"/>
            <a:ext cx="2496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validation at onboarding only. Minimal process change. Quick to deploy.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" y="3749040"/>
            <a:ext cx="2496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months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572768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0" y="1572768"/>
            <a:ext cx="26974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0" y="16916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20299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Bus. Decline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2542032"/>
            <a:ext cx="214884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3474720" y="254203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failure achieved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10128" y="3273552"/>
            <a:ext cx="2496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validation API + pre-cycle dry-run batch. Significantly achieved.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10128" y="3749040"/>
            <a:ext cx="2496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80760" y="1572768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080760" y="1572768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080760" y="16916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80760" y="20299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Bus. Decline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55080" y="2542032"/>
            <a:ext cx="214884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355080" y="254203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failure achieved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90488" y="3273552"/>
            <a:ext cx="2496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initiatives. First-ever SLA compliance in the bank's recorded history.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90488" y="3749040"/>
            <a:ext cx="2496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months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06908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7200" y="4133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Improvement Initiatives: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377440" y="413308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4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IM-1: Mandate Validation API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377440" y="440740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−60% failure  ·  Month 12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005072" y="413308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4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IM-2: Pre-Cycle Dry-Run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005072" y="440740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−20% failure  ·  Month 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32704" y="413308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4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IM-3: SLA Alert Dashboard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32704" y="440740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−10% failure  ·  Month 1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260336" y="413308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4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IM-4: Originator Notification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260336" y="440740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−15% failure  ·  Month 3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impact: 3.00% → 0.90% in 18 months — first-ever NPCI SLA compliance achieved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FORECASTING — GRADIENT BOOSTING REGRESSOR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1965960" cy="914400"/>
          </a:xfrm>
          <a:prstGeom prst="rect">
            <a:avLst/>
          </a:prstGeom>
          <a:solidFill>
            <a:srgbClr val="162C52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1965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877824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0.977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35331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Accuracy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749808"/>
            <a:ext cx="1965960" cy="914400"/>
          </a:xfrm>
          <a:prstGeom prst="rect">
            <a:avLst/>
          </a:prstGeom>
          <a:solidFill>
            <a:srgbClr val="162C52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468880" y="749808"/>
            <a:ext cx="19659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68880" y="877824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0.077%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68880" y="135331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Prediction Error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749808"/>
            <a:ext cx="1965960" cy="914400"/>
          </a:xfrm>
          <a:prstGeom prst="rect">
            <a:avLst/>
          </a:prstGeom>
          <a:solidFill>
            <a:srgbClr val="162C52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617720" y="749808"/>
            <a:ext cx="1965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17720" y="877824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3.17%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17720" y="135331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12M Forecast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66560" y="749808"/>
            <a:ext cx="1965960" cy="914400"/>
          </a:xfrm>
          <a:prstGeom prst="rect">
            <a:avLst/>
          </a:prstGeom>
          <a:solidFill>
            <a:srgbClr val="162C52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766560" y="749808"/>
            <a:ext cx="1965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66560" y="877824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1.63%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66560" y="135331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Post-Intervention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1801368"/>
            <a:ext cx="4160520" cy="2514600"/>
          </a:xfrm>
          <a:prstGeom prst="rect">
            <a:avLst/>
          </a:prstGeom>
          <a:solidFill>
            <a:srgbClr val="162C52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" y="190195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232257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74520" y="23225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GradientBoostingRegressor (scikit-learn)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259689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74520" y="25968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287121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74520" y="28712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314553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74520" y="31455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341985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74520" y="34198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369417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74520" y="36941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time-ordered (35 train / 9 test months)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96849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Method: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874520" y="39684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(no random shuffle) — prevents data leakage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1801368"/>
            <a:ext cx="4069080" cy="2514600"/>
          </a:xfrm>
          <a:prstGeom prst="rect">
            <a:avLst/>
          </a:prstGeom>
          <a:solidFill>
            <a:srgbClr val="162C52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937760" y="190195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Outcomes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937760" y="2331720"/>
            <a:ext cx="73152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120640" y="232257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Trajectory (no intervention)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20640" y="251460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3.17% avg failure rate over 12 months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37760" y="2807208"/>
            <a:ext cx="73152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120640" y="279806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Post-Intervention Forecast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20640" y="299008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1.63% avg — 48.6% relative improvement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37760" y="3282696"/>
            <a:ext cx="73152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120640" y="327355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Reduction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20640" y="346557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1.54 percentage point decrease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937760" y="3758184"/>
            <a:ext cx="73152" cy="320040"/>
          </a:xfrm>
          <a:prstGeom prst="rect">
            <a:avLst/>
          </a:prstGeom>
          <a:solidFill>
            <a:srgbClr val="9EC5E8"/>
          </a:solidFill>
          <a:ln w="12700">
            <a:solidFill>
              <a:srgbClr val="9EC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120640" y="374904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Reliability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20640" y="39410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97.7% variance explained — highly reliable as an operational planning tool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4434840"/>
            <a:ext cx="8503920" cy="548640"/>
          </a:xfrm>
          <a:prstGeom prst="rect">
            <a:avLst/>
          </a:prstGeom>
          <a:solidFill>
            <a:srgbClr val="162C52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02920" y="44622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GBR over Linear Regression: 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971800" y="4462272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relationships between lag features and seasonal patterns without overfitting on the small 44-month dataset. Low learning_rate (0.04) + low max_depth (3) + subsample (0.85) act as regularisation to prevent overfitting.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&amp; STAR SCHEMA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4160520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Data Model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17320" y="1417320"/>
            <a:ext cx="2331720" cy="1005840"/>
          </a:xfrm>
          <a:prstGeom prst="rect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417320" y="1417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691640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fact_nach_transactions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BankID + Date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success_pct · fail_pct · bus_pct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tech_pct · inward_vol · Resp_W0–W4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4048" y="2542032"/>
            <a:ext cx="146304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84048" y="2542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dim_bank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84048" y="281635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BankID, BankName, BankType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IsRRB flag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938528" y="2926080"/>
            <a:ext cx="146304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938528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938528" y="320040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DateID, CalendarDate, Month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FiscalYear, FY_MonthIndex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493008" y="2542032"/>
            <a:ext cx="146304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93008" y="2542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dim_industry_benchmark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493008" y="281635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DateID (FK), ind_avg_fail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ind_avg_success, ind_avg_bus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754880" y="896112"/>
            <a:ext cx="4069080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37760" y="969264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DAX Measures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1426464"/>
            <a:ext cx="73152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120640" y="137160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 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20640" y="1572768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DIVIDE([Total Failed], [Total Presented], 0)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37760" y="1865376"/>
            <a:ext cx="73152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1206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Rate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20640" y="201168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DIVIDE(COUNTROWS(FILTER(..., success_pct ≥ 99)), COUNTROWS(...))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37760" y="2304288"/>
            <a:ext cx="73152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120640" y="224942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vs Industry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20640" y="245059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[Avg Failure Rate] − CALCULATE([Ind Avg], ALL(dim_bank))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37760" y="2743200"/>
            <a:ext cx="73152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120640" y="26883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Failure Change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20640" y="2889504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([Failure %] − PREV Month Failure) / PREV Month Failure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37760" y="3182112"/>
            <a:ext cx="73152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120640" y="312724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3M Avg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20640" y="332841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AVERAGEX(DATESINPERIOD(..., −3, MONTH), [Failure %])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937760" y="3621024"/>
            <a:ext cx="73152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120640" y="35661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 Flag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20640" y="3767328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IF([success_pct] &lt; 99, 'BREACH', 'COMPLIANT')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416052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02920" y="4206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Dashboard: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148840" y="4224528"/>
            <a:ext cx="164592" cy="164592"/>
          </a:xfrm>
          <a:prstGeom prst="ellipse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395728" y="41879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Overview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40480" y="4224528"/>
            <a:ext cx="164592" cy="164592"/>
          </a:xfrm>
          <a:prstGeom prst="ellipse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087368" y="41879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Deep-Dive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532120" y="4224528"/>
            <a:ext cx="164592" cy="164592"/>
          </a:xfrm>
          <a:prstGeom prst="ellipse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779008" y="41879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Response Analysis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223760" y="4224528"/>
            <a:ext cx="164592" cy="164592"/>
          </a:xfrm>
          <a:prstGeom prst="ellipse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470648" y="41879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&amp; Improvement Roadmap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0292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8–12 analyst-hours/month previously spent on manual ad-hoc failure reporting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QUANTIFIED IMPACT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886968"/>
            <a:ext cx="91440" cy="1207008"/>
          </a:xfrm>
          <a:prstGeom prst="rect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21208" y="9784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Root Cause Identified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21208" y="1289304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NACH failures caused by Business Declines (stale mandate data). Zero technical failures. This redirected the entire remediation investment from IT infrastructure to mandate data governance.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886968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886968"/>
            <a:ext cx="91440" cy="1207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56048" y="9784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Months Pinpointed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56048" y="1289304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and March identified as peak-risk months (avg 3.37% and 4.83%), enabling the bank to schedule pre-cycle mandate validation sprints in January–February annually.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231136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2231136"/>
            <a:ext cx="91440" cy="1207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21208" y="23225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48.6% Projected Failure Reduction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1208" y="263347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initiatives (mandate validation API + pre-cycle dry-run + automated alerts) deliver failure rate from 3.00% → 1.63% within 12 months.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231136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2231136"/>
            <a:ext cx="91440" cy="1207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956048" y="23225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First-Ever SLA Compliance Achieved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56048" y="263347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scenario projects failure to 0.90% — below the 1.0% NPCI ceiling for the first time in the bank's entire 5-year recorded operational history.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575304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3575304"/>
            <a:ext cx="91440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21208" y="36667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Hours/Month Saved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1208" y="397764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Power BI dashboard with direct Excel/SQL feed replaces manual, siloed monthly reporting. Ops team can intervene within 24 hours when failure rate exceeds 5%.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575304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3575304"/>
            <a:ext cx="91440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56048" y="36667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Operational Planning Window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56048" y="397764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 (R²=0.977) gives the bank reliable forward visibility — enabling proactive staffing, mandate review cycles, and NPCI SLA reporting preparation.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 across the full analytical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1783080"/>
          </a:xfrm>
          <a:prstGeom prst="rect">
            <a:avLst/>
          </a:prstGeom>
          <a:solidFill>
            <a:srgbClr val="162C52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697480" cy="91440"/>
          </a:xfrm>
          <a:prstGeom prst="rect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12471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37160" cy="137160"/>
          </a:xfrm>
          <a:prstGeom prst="ellipse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14904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137160" cy="137160"/>
          </a:xfrm>
          <a:prstGeom prst="ellipse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5800" y="18379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49424"/>
            <a:ext cx="137160" cy="137160"/>
          </a:xfrm>
          <a:prstGeom prst="ellipse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5800" y="21854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960120"/>
            <a:ext cx="2697480" cy="1783080"/>
          </a:xfrm>
          <a:prstGeom prst="rect">
            <a:avLst/>
          </a:prstGeom>
          <a:solidFill>
            <a:srgbClr val="162C52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0" y="960120"/>
            <a:ext cx="269748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37560" y="112471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37560" y="1554480"/>
            <a:ext cx="137160" cy="1371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566160" y="14904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1901952"/>
            <a:ext cx="137160" cy="1371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566160" y="18379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960120"/>
            <a:ext cx="2697480" cy="1783080"/>
          </a:xfrm>
          <a:prstGeom prst="rect">
            <a:avLst/>
          </a:prstGeom>
          <a:solidFill>
            <a:srgbClr val="162C52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080760" y="960120"/>
            <a:ext cx="269748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17920" y="112471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554480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46520" y="14904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1901952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46520" y="18379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GBR Model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2249424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46520" y="21854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Split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2926080"/>
            <a:ext cx="2697480" cy="1783080"/>
          </a:xfrm>
          <a:prstGeom prst="rect">
            <a:avLst/>
          </a:prstGeom>
          <a:solidFill>
            <a:srgbClr val="162C52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20040" y="2926080"/>
            <a:ext cx="26974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7200" y="30906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 / SQL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52044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85800" y="34564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867912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85800" y="38039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215384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85800" y="4151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0" y="2926080"/>
            <a:ext cx="2697480" cy="1783080"/>
          </a:xfrm>
          <a:prstGeom prst="rect">
            <a:avLst/>
          </a:prstGeom>
          <a:solidFill>
            <a:srgbClr val="162C52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3200400" y="2926080"/>
            <a:ext cx="2697480" cy="91440"/>
          </a:xfrm>
          <a:prstGeom prst="rect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337560" y="30906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Dashboarding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337560" y="3520440"/>
            <a:ext cx="137160" cy="137160"/>
          </a:xfrm>
          <a:prstGeom prst="ellipse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566160" y="34564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337560" y="3867912"/>
            <a:ext cx="137160" cy="137160"/>
          </a:xfrm>
          <a:prstGeom prst="ellipse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566160" y="38039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337560" y="4215384"/>
            <a:ext cx="137160" cy="137160"/>
          </a:xfrm>
          <a:prstGeom prst="ellipse">
            <a:avLst/>
          </a:prstGeom>
          <a:solidFill>
            <a:srgbClr val="1E4D9B"/>
          </a:solidFill>
          <a:ln w="12700">
            <a:solidFill>
              <a:srgbClr val="1E4D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566160" y="4151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080760" y="2926080"/>
            <a:ext cx="2697480" cy="1783080"/>
          </a:xfrm>
          <a:prstGeom prst="rect">
            <a:avLst/>
          </a:prstGeom>
          <a:solidFill>
            <a:srgbClr val="162C52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080760" y="2926080"/>
            <a:ext cx="269748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217920" y="30906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217920" y="3520440"/>
            <a:ext cx="137160" cy="1371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446520" y="34564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217920" y="3867912"/>
            <a:ext cx="137160" cy="1371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446520" y="38039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217920" y="4215384"/>
            <a:ext cx="137160" cy="1371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446520" y="4151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91E3A"/>
          </a:solidFill>
          <a:ln w="12700">
            <a:solidFill>
              <a:srgbClr val="091E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2006</Words>
  <Application>Microsoft Office PowerPoint</Application>
  <PresentationFormat>On-screen Show (16:9)</PresentationFormat>
  <Paragraphs>348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NACH Payment Clearing Analytics — Odisha Gramya Bank</dc:title>
  <dc:subject>PptxGenJS Presentation</dc:subject>
  <dc:creator>Data Analyst Portfolio</dc:creator>
  <cp:lastModifiedBy>Situn Baren Swastik</cp:lastModifiedBy>
  <cp:revision>2</cp:revision>
  <dcterms:created xsi:type="dcterms:W3CDTF">2026-05-16T06:29:35Z</dcterms:created>
  <dcterms:modified xsi:type="dcterms:W3CDTF">2026-05-16T06:47:49Z</dcterms:modified>
</cp:coreProperties>
</file>